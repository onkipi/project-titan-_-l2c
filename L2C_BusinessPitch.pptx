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Pipeline Growth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Value ($M)</c:v>
                </c:pt>
              </c:strCache>
            </c:strRef>
          </c:tx>
          <c:spPr>
            <a:solidFill>
              <a:srgbClr val="667EE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1.8</c:v>
                </c:pt>
                <c:pt idx="2">
                  <c:v>2.4</c:v>
                </c:pt>
                <c:pt idx="3">
                  <c:v>3.1</c:v>
                </c:pt>
                <c:pt idx="4">
                  <c:v>4</c:v>
                </c:pt>
                <c:pt idx="5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667EEA">
              <a:alpha val="15000"/>
            </a:srgbClr>
          </a:solidFill>
          <a:ln w="12700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4C5FD5">
              <a:alpha val="20000"/>
            </a:srgbClr>
          </a:solidFill>
          <a:ln w="12700">
            <a:solidFill>
              <a:srgbClr val="4C5FD5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L2C PLATFORM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858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Every Lead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Revenue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Lead-to-Cash platform that unifies your entire revenue cycle—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prospect to payment—with enterprise-grade reliability.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640"/>
          </a:solidFill>
          <a:ln w="12700">
            <a:solidFill>
              <a:srgbClr val="0F16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SLA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/ Month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 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44988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49440" y="477316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Managed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revenue teams are drowning in disconnected tools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billing, and quoting tools don't talk to each other — data lives in spreadsheets.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874520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 Time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233172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reps spend 40% of their time on admin tasks instead of selling.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5156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Blind Spots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3749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means forecasts are guesswork, not data-driven.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4114800" cy="123444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9204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3383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Leakage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37490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errors, missed renewals, and billing delays cost enterprises millions annually.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Salesforce State of Sales Report 2024 | McKinsey Revenue Operations Study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Revenue Visibility.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1554480" cy="13716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993392" y="1691640"/>
            <a:ext cx="1554480" cy="1371600"/>
          </a:xfrm>
          <a:prstGeom prst="rect">
            <a:avLst/>
          </a:prstGeom>
          <a:solidFill>
            <a:srgbClr val="5B6FE0"/>
          </a:solidFill>
          <a:ln w="12700">
            <a:solidFill>
              <a:srgbClr val="5B6F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47872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712464" y="1691640"/>
            <a:ext cx="1554480" cy="1371600"/>
          </a:xfrm>
          <a:prstGeom prst="rect">
            <a:avLst/>
          </a:prstGeom>
          <a:solidFill>
            <a:srgbClr val="5060D5"/>
          </a:solidFill>
          <a:ln w="12700">
            <a:solidFill>
              <a:srgbClr val="5060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12464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12464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266944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31536" y="1691640"/>
            <a:ext cx="1554480" cy="1371600"/>
          </a:xfrm>
          <a:prstGeom prst="rect">
            <a:avLst/>
          </a:prstGeom>
          <a:solidFill>
            <a:srgbClr val="4550CA"/>
          </a:solidFill>
          <a:ln w="12700">
            <a:solidFill>
              <a:srgbClr val="4550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31536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31536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86016" y="21488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7EEA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150608" y="1691640"/>
            <a:ext cx="1554480" cy="1371600"/>
          </a:xfrm>
          <a:prstGeom prst="rect">
            <a:avLst/>
          </a:prstGeom>
          <a:solidFill>
            <a:srgbClr val="3A40BF"/>
          </a:solidFill>
          <a:ln w="12700">
            <a:solidFill>
              <a:srgbClr val="3A40B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50608" y="178308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50608" y="2286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337560"/>
            <a:ext cx="2011680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2004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2004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Scoring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160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Auto-score leads and forecast pipeline with ML models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468880" y="3337560"/>
            <a:ext cx="2011680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6888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46888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68880" y="4160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Salesforce, SAP HANA &amp; ERP integrated at 99.99% accuracy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337560"/>
            <a:ext cx="2011680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61772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Analytics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617720" y="4160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dashboard from lead capture to cash collection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3337560"/>
            <a:ext cx="2011680" cy="15087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76656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766560" y="3840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Security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4160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compliant with role-based access and audit trails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3035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822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430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Lead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auto-scoring, behavioral tracking, and instant CRM routing ensure no lead falls through.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53035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057400"/>
            <a:ext cx="64008" cy="822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671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1031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Quote Engine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CPQ with automated approval workflows — discounts &gt;20% trigger escalation automatically.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53035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3017520"/>
            <a:ext cx="64008" cy="822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27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Analytics &amp; Forecasting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649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pipeline health scoring, churn prediction, and regional breakdowns in real time.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530352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977640"/>
            <a:ext cx="64008" cy="82296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87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4023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Integrations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Plug-and-play with Salesforce, SAP HANA, Stripe, and tax engines — all syncing &lt; 2s latency.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097280"/>
            <a:ext cx="28346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11430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03504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Lead-to-Opportunity 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35040" y="173736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15.2% above industry avg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43600" y="2057400"/>
            <a:ext cx="28346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2103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$4.2M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35040" y="2514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 Value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017520"/>
            <a:ext cx="28346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3063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18.3%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035040" y="34747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Win Rate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365760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3.1% YoY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943600" y="3977640"/>
            <a:ext cx="283464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35040" y="4023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45min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035040" y="4434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Quote Generation Time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474720" cy="3474720"/>
          </a:xfrm>
          <a:prstGeom prst="ellipse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Revenue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Market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05840" y="1508760"/>
            <a:ext cx="2468880" cy="2468880"/>
          </a:xfrm>
          <a:prstGeom prst="ellipse">
            <a:avLst/>
          </a:prstGeom>
          <a:solidFill>
            <a:srgbClr val="4C5FD5">
              <a:alpha val="90000"/>
            </a:srgbClr>
          </a:solidFill>
          <a:ln w="12700">
            <a:solidFill>
              <a:srgbClr val="4C5F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8745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240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L2C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00200" y="1965960"/>
            <a:ext cx="1417320" cy="14173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00200" y="2377440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97680" y="1051560"/>
            <a:ext cx="448056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434840" y="110642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CAGR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14904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Operations software market growth through 2028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2057400"/>
            <a:ext cx="448056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34840" y="21122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enterprises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34840" y="24963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needing a unified Lead-to-Cash solution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3063240"/>
            <a:ext cx="448056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434840" y="31181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6–9 tools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34840" y="35021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per enterprise customer—$480K in annual savings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4069080"/>
            <a:ext cx="4480560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34840" y="41239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$1.6M ARR potential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34840" y="4507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account at full platform adoption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CRM Market Guide 2025 | Forrester Revenue Operations Report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840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$4,900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5 users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Lead &amp; Opportunity Mgmt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Analytics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783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$12,900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2004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25 users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3017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L2C Suite + CPQ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3383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Scoring &amp; Forecasting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Integrations (Salesforce, ERP)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80760" y="1005840"/>
            <a:ext cx="2743200" cy="384048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0807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80760" y="1508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080760" y="2011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2377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743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options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CSM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3474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 guarantee 99.9%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63640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On-prem or cloud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 include 30-day free trial · No credit card required · Cancel anytime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KEY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Processed/Month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2029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 MoM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46888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Under Management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68880" y="2029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1772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Uptime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2029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SLA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005840"/>
            <a:ext cx="201168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0972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4.8★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766560" y="16642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66560" y="2029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NPS: 71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20040" y="2606040"/>
          <a:ext cx="502920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5669280" y="2633472"/>
            <a:ext cx="3200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0" y="267004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Lead-to-Opportunity Conv.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760720" y="28712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0" y="28712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669280" y="3209544"/>
            <a:ext cx="3200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60720" y="324612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Quote-to-Order Rate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760720" y="34472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0" y="34472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669280" y="3785616"/>
            <a:ext cx="3200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3822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Outstanding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60720" y="40233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days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0" y="4023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 days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669280" y="4361688"/>
            <a:ext cx="3200400" cy="502920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0" y="43982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Uptime (all)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45994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315200" y="459943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508760"/>
                <a:gridCol w="1508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L2C 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7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Salesforce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HubSpot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End-to-End L2C in 1 tool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AI Lead Scoring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Native CPQ + Approvals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Add-on $$$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Real-Time ERP Sync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Complex setup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Implementation Time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&lt; 4 weeks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6–12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2–3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12–18 months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</a:rPr>
                        <a:t>Mid-Market Pricing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667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unique differentiation: unified platform with the speed and pricing of a startup, the reliability of enterprise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402336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08760"/>
            <a:ext cx="54864" cy="74980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ICP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Mid-to-large enterprises (500–5,000 employees) in SaaS, manufacturing, and professional services.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377440"/>
            <a:ext cx="402336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377440"/>
            <a:ext cx="54864" cy="74980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Channel Partners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SI partners and consulting firms as referral and implementation channel.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3246120"/>
            <a:ext cx="402336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3246120"/>
            <a:ext cx="54864" cy="74980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  Demand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611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ABM targeting RevOps leaders + inbound SEO/PPC around L2C pain points.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4114800"/>
            <a:ext cx="402336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4114800"/>
            <a:ext cx="54864" cy="74980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Land &amp; Expand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team, prove ROI in 90 days, expand across org with usage-based pricing.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406908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508760"/>
            <a:ext cx="822960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67335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50992" y="15636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(iOS/Android)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19293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&amp; Teams integration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2377440"/>
            <a:ext cx="406908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377440"/>
            <a:ext cx="822960" cy="74980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54203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0992" y="24323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CPQ with bundles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50992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3246120"/>
            <a:ext cx="406908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246120"/>
            <a:ext cx="82296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41071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50992" y="33009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proposal writer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50992" y="3666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intelligence hub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4114800"/>
            <a:ext cx="4069080" cy="749808"/>
          </a:xfrm>
          <a:prstGeom prst="rect">
            <a:avLst/>
          </a:prstGeom>
          <a:solidFill>
            <a:srgbClr val="F0F4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4114800"/>
            <a:ext cx="82296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27939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650992" y="41696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ISV ecosystem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650992" y="453542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data residency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667EEA">
              <a:alpha val="20000"/>
            </a:srgbClr>
          </a:solidFill>
          <a:ln w="12700">
            <a:solidFill>
              <a:srgbClr val="667EE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4C5FD5">
              <a:alpha val="25000"/>
            </a:srgbClr>
          </a:solidFill>
          <a:ln w="12700">
            <a:solidFill>
              <a:srgbClr val="4C5FD5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502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Reshaping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Revenue Operations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$8M Series A · Use of Funds: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1783080" cy="1097280"/>
          </a:xfrm>
          <a:prstGeom prst="rect">
            <a:avLst/>
          </a:prstGeom>
          <a:solidFill>
            <a:srgbClr val="0F1640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6393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80360" y="2926080"/>
            <a:ext cx="1783080" cy="1097280"/>
          </a:xfrm>
          <a:prstGeom prst="rect">
            <a:avLst/>
          </a:prstGeom>
          <a:solidFill>
            <a:srgbClr val="0F1640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8036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36393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846320" y="2926080"/>
            <a:ext cx="1783080" cy="1097280"/>
          </a:xfrm>
          <a:prstGeom prst="rect">
            <a:avLst/>
          </a:prstGeom>
          <a:solidFill>
            <a:srgbClr val="0F1640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632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6393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12280" y="2926080"/>
            <a:ext cx="1783080" cy="1097280"/>
          </a:xfrm>
          <a:prstGeom prst="rect">
            <a:avLst/>
          </a:prstGeom>
          <a:solidFill>
            <a:srgbClr val="0F1640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🏢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12280" y="333756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3639312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/ Operations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4160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see it in action?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founders@enterprisel2c.com   |   🌐 www.enterprisel2c.com   |   📞 +1 (800) 555-L2C1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86460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Discussion Purposes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L2C Platform - Business Pitch</dc:title>
  <dc:subject>PptxGenJS Presentation</dc:subject>
  <dc:creator>PptxGenJS</dc:creator>
  <cp:lastModifiedBy>PptxGenJS</cp:lastModifiedBy>
  <cp:revision>1</cp:revision>
  <dcterms:created xsi:type="dcterms:W3CDTF">2026-02-21T05:44:45Z</dcterms:created>
  <dcterms:modified xsi:type="dcterms:W3CDTF">2026-02-21T05:44:45Z</dcterms:modified>
</cp:coreProperties>
</file>